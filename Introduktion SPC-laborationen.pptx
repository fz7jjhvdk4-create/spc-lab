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Introduktionsbild. SPC = Statistical Process Control, statistisk processtyrning. Laborationen körs helt i webbläsaren på spc-lab.vercel.app — ingen installation.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Berättelsen bär laborationen: allt studenten gör knyts till uppdraget. Kraven 1,67 (maskin) och 1,33 (process) återkommer i momenten.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Lärandemålen är hämtade ordagrant ur lärarhandledningen (avsnitt 1). Varje mål motsvarar ungefär ett moment i laborationen.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Tiderna är riktvärden ur lärarhandledningen. Moment 0–2 hinns oftast på passets första halva, 3–4 plus rapport på den andra. Avslöja inte de inbyggda överraskningarna (felcentrerad maskin i M1, underkänt Cp i M3, fixturfällan i M4).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två första punkterna är de som oftast går fel: smeknamn/alias i rapporten, eller progression som 'försvinner' för att studenten bytt enhet eller kört inkognito.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Rapporten sammanställs automatiskt: data, diagram, beräkningar, quizresultat och reflektioner. Lärartips: samma namn i din egen kopia av laborationen återskapar studentens exakta data för stickprovskontroll.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länken stå kvar medan studenterna stämplar in och kommer igång.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8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9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LABORATION  ·  KVALITETSTEKNIK &amp; INDUSTRIELL STATISTIK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2344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SPC-laborationen</a:t>
            </a:r>
            <a:endParaRPr lang="en-US" sz="5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331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A9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Statistisk processtyrning och kapabilitetsstudier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601468" y="5554936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6" name="Shape 4"/>
          <p:cNvSpPr/>
          <p:nvPr/>
        </p:nvSpPr>
        <p:spPr>
          <a:xfrm>
            <a:off x="2710053" y="5554895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7" name="Shape 5"/>
          <p:cNvSpPr/>
          <p:nvPr/>
        </p:nvSpPr>
        <p:spPr>
          <a:xfrm>
            <a:off x="2818638" y="5554821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8" name="Shape 6"/>
          <p:cNvSpPr/>
          <p:nvPr/>
        </p:nvSpPr>
        <p:spPr>
          <a:xfrm>
            <a:off x="2927223" y="5554687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9" name="Shape 7"/>
          <p:cNvSpPr/>
          <p:nvPr/>
        </p:nvSpPr>
        <p:spPr>
          <a:xfrm>
            <a:off x="3035808" y="5554453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10" name="Shape 8"/>
          <p:cNvSpPr/>
          <p:nvPr/>
        </p:nvSpPr>
        <p:spPr>
          <a:xfrm>
            <a:off x="3144393" y="5554049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11" name="Shape 9"/>
          <p:cNvSpPr/>
          <p:nvPr/>
        </p:nvSpPr>
        <p:spPr>
          <a:xfrm>
            <a:off x="3252978" y="5553371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12" name="Shape 10"/>
          <p:cNvSpPr/>
          <p:nvPr/>
        </p:nvSpPr>
        <p:spPr>
          <a:xfrm>
            <a:off x="3361563" y="5552255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13" name="Shape 11"/>
          <p:cNvSpPr/>
          <p:nvPr/>
        </p:nvSpPr>
        <p:spPr>
          <a:xfrm>
            <a:off x="3470148" y="5550458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14" name="Shape 12"/>
          <p:cNvSpPr/>
          <p:nvPr/>
        </p:nvSpPr>
        <p:spPr>
          <a:xfrm>
            <a:off x="3578733" y="5547632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15" name="Shape 13"/>
          <p:cNvSpPr/>
          <p:nvPr/>
        </p:nvSpPr>
        <p:spPr>
          <a:xfrm>
            <a:off x="3687318" y="5543282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16" name="Shape 14"/>
          <p:cNvSpPr/>
          <p:nvPr/>
        </p:nvSpPr>
        <p:spPr>
          <a:xfrm>
            <a:off x="3795903" y="5536739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17" name="Shape 15"/>
          <p:cNvSpPr/>
          <p:nvPr/>
        </p:nvSpPr>
        <p:spPr>
          <a:xfrm>
            <a:off x="3904488" y="5527117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18" name="Shape 16"/>
          <p:cNvSpPr/>
          <p:nvPr/>
        </p:nvSpPr>
        <p:spPr>
          <a:xfrm>
            <a:off x="4013073" y="5513290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19" name="Shape 17"/>
          <p:cNvSpPr/>
          <p:nvPr/>
        </p:nvSpPr>
        <p:spPr>
          <a:xfrm>
            <a:off x="4121658" y="5493878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20" name="Shape 18"/>
          <p:cNvSpPr/>
          <p:nvPr/>
        </p:nvSpPr>
        <p:spPr>
          <a:xfrm>
            <a:off x="4230243" y="5467259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21" name="Shape 19"/>
          <p:cNvSpPr/>
          <p:nvPr/>
        </p:nvSpPr>
        <p:spPr>
          <a:xfrm>
            <a:off x="4338828" y="5431618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22" name="Shape 20"/>
          <p:cNvSpPr/>
          <p:nvPr/>
        </p:nvSpPr>
        <p:spPr>
          <a:xfrm>
            <a:off x="4447413" y="5385045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23" name="Shape 21"/>
          <p:cNvSpPr/>
          <p:nvPr/>
        </p:nvSpPr>
        <p:spPr>
          <a:xfrm>
            <a:off x="4555998" y="5325677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24" name="Shape 22"/>
          <p:cNvSpPr/>
          <p:nvPr/>
        </p:nvSpPr>
        <p:spPr>
          <a:xfrm>
            <a:off x="4664583" y="5251896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25" name="Shape 23"/>
          <p:cNvSpPr/>
          <p:nvPr/>
        </p:nvSpPr>
        <p:spPr>
          <a:xfrm>
            <a:off x="4773168" y="5162569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26" name="Shape 24"/>
          <p:cNvSpPr/>
          <p:nvPr/>
        </p:nvSpPr>
        <p:spPr>
          <a:xfrm>
            <a:off x="4881753" y="5057306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27" name="Shape 25"/>
          <p:cNvSpPr/>
          <p:nvPr/>
        </p:nvSpPr>
        <p:spPr>
          <a:xfrm>
            <a:off x="4990338" y="4936714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28" name="Shape 26"/>
          <p:cNvSpPr/>
          <p:nvPr/>
        </p:nvSpPr>
        <p:spPr>
          <a:xfrm>
            <a:off x="5098923" y="4802611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29" name="Shape 27"/>
          <p:cNvSpPr/>
          <p:nvPr/>
        </p:nvSpPr>
        <p:spPr>
          <a:xfrm>
            <a:off x="5207508" y="4658145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30" name="Shape 28"/>
          <p:cNvSpPr/>
          <p:nvPr/>
        </p:nvSpPr>
        <p:spPr>
          <a:xfrm>
            <a:off x="5316093" y="4507804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31" name="Shape 29"/>
          <p:cNvSpPr/>
          <p:nvPr/>
        </p:nvSpPr>
        <p:spPr>
          <a:xfrm>
            <a:off x="5424678" y="4357267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32" name="Shape 30"/>
          <p:cNvSpPr/>
          <p:nvPr/>
        </p:nvSpPr>
        <p:spPr>
          <a:xfrm>
            <a:off x="5533263" y="4213108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33" name="Shape 31"/>
          <p:cNvSpPr/>
          <p:nvPr/>
        </p:nvSpPr>
        <p:spPr>
          <a:xfrm>
            <a:off x="5641848" y="4082344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34" name="Shape 32"/>
          <p:cNvSpPr/>
          <p:nvPr/>
        </p:nvSpPr>
        <p:spPr>
          <a:xfrm>
            <a:off x="5750433" y="3971890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35" name="Shape 33"/>
          <p:cNvSpPr/>
          <p:nvPr/>
        </p:nvSpPr>
        <p:spPr>
          <a:xfrm>
            <a:off x="5859018" y="3887958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36" name="Shape 34"/>
          <p:cNvSpPr/>
          <p:nvPr/>
        </p:nvSpPr>
        <p:spPr>
          <a:xfrm>
            <a:off x="5967603" y="3835478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37" name="Shape 35"/>
          <p:cNvSpPr/>
          <p:nvPr/>
        </p:nvSpPr>
        <p:spPr>
          <a:xfrm>
            <a:off x="6076188" y="3817620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38" name="Shape 36"/>
          <p:cNvSpPr/>
          <p:nvPr/>
        </p:nvSpPr>
        <p:spPr>
          <a:xfrm>
            <a:off x="6184773" y="3835478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39" name="Shape 37"/>
          <p:cNvSpPr/>
          <p:nvPr/>
        </p:nvSpPr>
        <p:spPr>
          <a:xfrm>
            <a:off x="6293358" y="3887958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40" name="Shape 38"/>
          <p:cNvSpPr/>
          <p:nvPr/>
        </p:nvSpPr>
        <p:spPr>
          <a:xfrm>
            <a:off x="6401943" y="3971890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41" name="Shape 39"/>
          <p:cNvSpPr/>
          <p:nvPr/>
        </p:nvSpPr>
        <p:spPr>
          <a:xfrm>
            <a:off x="6510528" y="4082344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42" name="Shape 40"/>
          <p:cNvSpPr/>
          <p:nvPr/>
        </p:nvSpPr>
        <p:spPr>
          <a:xfrm>
            <a:off x="6619113" y="4213108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43" name="Shape 41"/>
          <p:cNvSpPr/>
          <p:nvPr/>
        </p:nvSpPr>
        <p:spPr>
          <a:xfrm>
            <a:off x="6727698" y="4357267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44" name="Shape 42"/>
          <p:cNvSpPr/>
          <p:nvPr/>
        </p:nvSpPr>
        <p:spPr>
          <a:xfrm>
            <a:off x="6836283" y="4507804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45" name="Shape 43"/>
          <p:cNvSpPr/>
          <p:nvPr/>
        </p:nvSpPr>
        <p:spPr>
          <a:xfrm>
            <a:off x="6944868" y="4658145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46" name="Shape 44"/>
          <p:cNvSpPr/>
          <p:nvPr/>
        </p:nvSpPr>
        <p:spPr>
          <a:xfrm>
            <a:off x="7053453" y="4802611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47" name="Shape 45"/>
          <p:cNvSpPr/>
          <p:nvPr/>
        </p:nvSpPr>
        <p:spPr>
          <a:xfrm>
            <a:off x="7162038" y="4936714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48" name="Shape 46"/>
          <p:cNvSpPr/>
          <p:nvPr/>
        </p:nvSpPr>
        <p:spPr>
          <a:xfrm>
            <a:off x="7270623" y="5057306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49" name="Shape 47"/>
          <p:cNvSpPr/>
          <p:nvPr/>
        </p:nvSpPr>
        <p:spPr>
          <a:xfrm>
            <a:off x="7379208" y="5162569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50" name="Shape 48"/>
          <p:cNvSpPr/>
          <p:nvPr/>
        </p:nvSpPr>
        <p:spPr>
          <a:xfrm>
            <a:off x="7487793" y="5251896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51" name="Shape 49"/>
          <p:cNvSpPr/>
          <p:nvPr/>
        </p:nvSpPr>
        <p:spPr>
          <a:xfrm>
            <a:off x="7596378" y="5325677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52" name="Shape 50"/>
          <p:cNvSpPr/>
          <p:nvPr/>
        </p:nvSpPr>
        <p:spPr>
          <a:xfrm>
            <a:off x="7704963" y="5385045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53" name="Shape 51"/>
          <p:cNvSpPr/>
          <p:nvPr/>
        </p:nvSpPr>
        <p:spPr>
          <a:xfrm>
            <a:off x="7813548" y="5431618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54" name="Shape 52"/>
          <p:cNvSpPr/>
          <p:nvPr/>
        </p:nvSpPr>
        <p:spPr>
          <a:xfrm>
            <a:off x="7922133" y="5467259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55" name="Shape 53"/>
          <p:cNvSpPr/>
          <p:nvPr/>
        </p:nvSpPr>
        <p:spPr>
          <a:xfrm>
            <a:off x="8030718" y="5493878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56" name="Shape 54"/>
          <p:cNvSpPr/>
          <p:nvPr/>
        </p:nvSpPr>
        <p:spPr>
          <a:xfrm>
            <a:off x="8139303" y="5513290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57" name="Shape 55"/>
          <p:cNvSpPr/>
          <p:nvPr/>
        </p:nvSpPr>
        <p:spPr>
          <a:xfrm>
            <a:off x="8247888" y="5527117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58" name="Shape 56"/>
          <p:cNvSpPr/>
          <p:nvPr/>
        </p:nvSpPr>
        <p:spPr>
          <a:xfrm>
            <a:off x="8356473" y="5536739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59" name="Shape 57"/>
          <p:cNvSpPr/>
          <p:nvPr/>
        </p:nvSpPr>
        <p:spPr>
          <a:xfrm>
            <a:off x="8465058" y="5543282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60" name="Shape 58"/>
          <p:cNvSpPr/>
          <p:nvPr/>
        </p:nvSpPr>
        <p:spPr>
          <a:xfrm>
            <a:off x="8573643" y="5547632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61" name="Shape 59"/>
          <p:cNvSpPr/>
          <p:nvPr/>
        </p:nvSpPr>
        <p:spPr>
          <a:xfrm>
            <a:off x="8682228" y="5550458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62" name="Shape 60"/>
          <p:cNvSpPr/>
          <p:nvPr/>
        </p:nvSpPr>
        <p:spPr>
          <a:xfrm>
            <a:off x="8790813" y="5552255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63" name="Shape 61"/>
          <p:cNvSpPr/>
          <p:nvPr/>
        </p:nvSpPr>
        <p:spPr>
          <a:xfrm>
            <a:off x="8899398" y="5553371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64" name="Shape 62"/>
          <p:cNvSpPr/>
          <p:nvPr/>
        </p:nvSpPr>
        <p:spPr>
          <a:xfrm>
            <a:off x="9007983" y="5554049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65" name="Shape 63"/>
          <p:cNvSpPr/>
          <p:nvPr/>
        </p:nvSpPr>
        <p:spPr>
          <a:xfrm>
            <a:off x="9116568" y="5554453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66" name="Shape 64"/>
          <p:cNvSpPr/>
          <p:nvPr/>
        </p:nvSpPr>
        <p:spPr>
          <a:xfrm>
            <a:off x="9225153" y="5554687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67" name="Shape 65"/>
          <p:cNvSpPr/>
          <p:nvPr/>
        </p:nvSpPr>
        <p:spPr>
          <a:xfrm>
            <a:off x="9333738" y="5554821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68" name="Shape 66"/>
          <p:cNvSpPr/>
          <p:nvPr/>
        </p:nvSpPr>
        <p:spPr>
          <a:xfrm>
            <a:off x="9442323" y="5554895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69" name="Shape 67"/>
          <p:cNvSpPr/>
          <p:nvPr/>
        </p:nvSpPr>
        <p:spPr>
          <a:xfrm>
            <a:off x="9550908" y="5554936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70" name="Shape 68"/>
          <p:cNvSpPr/>
          <p:nvPr/>
        </p:nvSpPr>
        <p:spPr>
          <a:xfrm>
            <a:off x="3455239" y="3611880"/>
            <a:ext cx="0" cy="2057400"/>
          </a:xfrm>
          <a:prstGeom prst="line">
            <a:avLst/>
          </a:prstGeom>
          <a:noFill/>
          <a:ln w="19050">
            <a:solidFill>
              <a:srgbClr val="D96B5B"/>
            </a:solidFill>
            <a:prstDash val="dash"/>
          </a:ln>
        </p:spPr>
      </p:sp>
      <p:sp>
        <p:nvSpPr>
          <p:cNvPr id="71" name="Shape 69"/>
          <p:cNvSpPr/>
          <p:nvPr/>
        </p:nvSpPr>
        <p:spPr>
          <a:xfrm>
            <a:off x="8742857" y="3611880"/>
            <a:ext cx="0" cy="2057400"/>
          </a:xfrm>
          <a:prstGeom prst="line">
            <a:avLst/>
          </a:prstGeom>
          <a:noFill/>
          <a:ln w="19050">
            <a:solidFill>
              <a:srgbClr val="D96B5B"/>
            </a:solidFill>
            <a:prstDash val="dash"/>
          </a:ln>
        </p:spPr>
      </p:sp>
      <p:sp>
        <p:nvSpPr>
          <p:cNvPr id="72" name="Text 70"/>
          <p:cNvSpPr txBox="1"/>
          <p:nvPr/>
        </p:nvSpPr>
        <p:spPr>
          <a:xfrm>
            <a:off x="2998039" y="33101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6B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UTG</a:t>
            </a:r>
            <a:endParaRPr lang="en-US" sz="1100" dirty="0"/>
          </a:p>
        </p:txBody>
      </p:sp>
      <p:sp>
        <p:nvSpPr>
          <p:cNvPr id="73" name="Text 71"/>
          <p:cNvSpPr txBox="1"/>
          <p:nvPr/>
        </p:nvSpPr>
        <p:spPr>
          <a:xfrm>
            <a:off x="8285657" y="33101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6B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ÖTG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2350008" y="5577840"/>
            <a:ext cx="7498080" cy="0"/>
          </a:xfrm>
          <a:prstGeom prst="line">
            <a:avLst/>
          </a:prstGeom>
          <a:noFill/>
          <a:ln w="12700">
            <a:solidFill>
              <a:srgbClr val="7D8A93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685800" y="61722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8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Svenska Axel AB  ·  Svarv 3  ·  Axel Ø 25,000 ± 0,050 mm</a:t>
            </a:r>
            <a:endParaRPr lang="en-US" sz="1200" dirty="0"/>
          </a:p>
        </p:txBody>
      </p:sp>
      <p:sp>
        <p:nvSpPr>
          <p:cNvPr id="76" name="Text 74"/>
          <p:cNvSpPr txBox="1"/>
          <p:nvPr/>
        </p:nvSpPr>
        <p:spPr>
          <a:xfrm>
            <a:off x="8229600" y="61264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spc-lab.vercel.app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F5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8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Din första dag som kvalitetsingenjör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är nyanställd kvalitetsingenjör på </a:t>
            </a:r>
            <a:pPr indent="0" marL="0">
              <a:buNone/>
            </a:pPr>
            <a:r>
              <a:rPr lang="en-US" sz="1600" b="1" dirty="0">
                <a:solidFill>
                  <a:srgbClr val="1B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Svenska Axel AB</a:t>
            </a:r>
            <a:pPr indent="0" marL="0">
              <a:buNone/>
            </a:pPr>
            <a:r>
              <a:rPr lang="en-US" sz="1600" dirty="0">
                <a:solidFill>
                  <a:srgbClr val="1B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som tillverkar axlar till växellådor. Företagets viktigaste maskin, CNC-svarven </a:t>
            </a:r>
            <a:pPr indent="0" marL="0">
              <a:buNone/>
            </a:pPr>
            <a:r>
              <a:rPr lang="en-US" sz="1600" b="1" dirty="0">
                <a:solidFill>
                  <a:srgbClr val="1B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Svarv 3</a:t>
            </a:r>
            <a:pPr indent="0" marL="0">
              <a:buNone/>
            </a:pPr>
            <a:r>
              <a:rPr lang="en-US" sz="1600" dirty="0">
                <a:solidFill>
                  <a:srgbClr val="1B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svarvar axeln A-2504.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346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Kunden klagar på för många kasserade axlar</a:t>
            </a:r>
            <a:pPr indent="0" marL="0">
              <a:buNone/>
            </a:pPr>
            <a:r>
              <a:rPr lang="en-US" sz="1600" dirty="0">
                <a:solidFill>
                  <a:srgbClr val="1B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och din chef vill att du reder ut varför.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977640"/>
            <a:ext cx="6035040" cy="1783080"/>
          </a:xfrm>
          <a:prstGeom prst="roundRect">
            <a:avLst>
              <a:gd name="adj" fmla="val 3077"/>
            </a:avLst>
          </a:prstGeom>
          <a:solidFill>
            <a:srgbClr val="F6F3EC"/>
          </a:solidFill>
          <a:ln w="15875">
            <a:solidFill>
              <a:srgbClr val="96690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42062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66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DITT UPPDRAG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52628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reda på var variationen kommer ifrån, bevisa det med data — och åtgärda processen så att kunden slutar få skrot.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178040" y="1600200"/>
            <a:ext cx="4434840" cy="3950208"/>
          </a:xfrm>
          <a:prstGeom prst="rect">
            <a:avLst/>
          </a:prstGeom>
          <a:solidFill>
            <a:srgbClr val="FFFFFF"/>
          </a:solidFill>
          <a:ln w="19050">
            <a:solidFill>
              <a:srgbClr val="1B283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06640" y="1691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D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ARTIKEL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406640" y="189280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Axel A-2504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78040" y="2258568"/>
            <a:ext cx="4434840" cy="0"/>
          </a:xfrm>
          <a:prstGeom prst="line">
            <a:avLst/>
          </a:prstGeom>
          <a:noFill/>
          <a:ln w="9525">
            <a:solidFill>
              <a:srgbClr val="CFC9B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06640" y="23500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D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MÅTT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406640" y="255117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Ø 25,000 mm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178040" y="2916936"/>
            <a:ext cx="4434840" cy="0"/>
          </a:xfrm>
          <a:prstGeom prst="line">
            <a:avLst/>
          </a:prstGeom>
          <a:noFill/>
          <a:ln w="9525">
            <a:solidFill>
              <a:srgbClr val="CFC9B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06640" y="30083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D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406640" y="320954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± 0,050 mm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178040" y="3575304"/>
            <a:ext cx="4434840" cy="0"/>
          </a:xfrm>
          <a:prstGeom prst="line">
            <a:avLst/>
          </a:prstGeom>
          <a:noFill/>
          <a:ln w="9525">
            <a:solidFill>
              <a:srgbClr val="CFC9B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06640" y="36667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D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406640" y="386791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Svarv 3 (CNC)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178040" y="4233672"/>
            <a:ext cx="4434840" cy="0"/>
          </a:xfrm>
          <a:prstGeom prst="line">
            <a:avLst/>
          </a:prstGeom>
          <a:noFill/>
          <a:ln w="9525">
            <a:solidFill>
              <a:srgbClr val="CFC9B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06640" y="43251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D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KRAV MASKIN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406640" y="452628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B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Cm, Cmk ≥ 1,67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178040" y="4892040"/>
            <a:ext cx="4434840" cy="0"/>
          </a:xfrm>
          <a:prstGeom prst="line">
            <a:avLst/>
          </a:prstGeom>
          <a:noFill/>
          <a:ln w="9525">
            <a:solidFill>
              <a:srgbClr val="CFC9B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06640" y="4983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D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KRAV PROCESS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406640" y="518464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B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Cp, Cpk ≥ 1,33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F5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LÄRANDEMÅL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8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Efter laborationen kan du …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12064" cy="512064"/>
          </a:xfrm>
          <a:prstGeom prst="ellipse">
            <a:avLst/>
          </a:prstGeom>
          <a:solidFill>
            <a:srgbClr val="1F5B7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5819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545336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F5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— </a:t>
            </a:r>
            <a:pPr indent="0" marL="0">
              <a:buNone/>
            </a:pPr>
            <a:r>
              <a:rPr lang="en-US" sz="1550" dirty="0">
                <a:solidFill>
                  <a:srgbClr val="1B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förklara skillnaden mellan slumpmässiga och urskiljbara orsaker till variation.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94360" y="2551176"/>
            <a:ext cx="512064" cy="512064"/>
          </a:xfrm>
          <a:prstGeom prst="ellipse">
            <a:avLst/>
          </a:prstGeom>
          <a:solidFill>
            <a:srgbClr val="1F5B7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25328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496312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F5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Maskinkapabilitet — </a:t>
            </a:r>
            <a:pPr indent="0" marL="0">
              <a:buNone/>
            </a:pPr>
            <a:r>
              <a:rPr lang="en-US" sz="1550" dirty="0">
                <a:solidFill>
                  <a:srgbClr val="1B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genomföra och tolka en Cm/Cmk-studie — och förklara varför läge och spridning är två skilda problem.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94360" y="3502152"/>
            <a:ext cx="512064" cy="512064"/>
          </a:xfrm>
          <a:prstGeom prst="ellipse">
            <a:avLst/>
          </a:prstGeom>
          <a:solidFill>
            <a:srgbClr val="1F5B7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34838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447288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F5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Styrdiagram — </a:t>
            </a:r>
            <a:pPr indent="0" marL="0">
              <a:buNone/>
            </a:pPr>
            <a:r>
              <a:rPr lang="en-US" sz="1550" dirty="0">
                <a:solidFill>
                  <a:srgbClr val="1B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upprätta x̄- och R-diagram, beräkna styrgränser ur processdata och ställa diagnos med mönsterregler (Western Electric).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94360" y="4453128"/>
            <a:ext cx="512064" cy="512064"/>
          </a:xfrm>
          <a:prstGeom prst="ellipse">
            <a:avLst/>
          </a:prstGeom>
          <a:solidFill>
            <a:srgbClr val="1F5B7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4434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398264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F5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Processkapabilitet — </a:t>
            </a:r>
            <a:pPr indent="0" marL="0">
              <a:buNone/>
            </a:pPr>
            <a:r>
              <a:rPr lang="en-US" sz="1550" dirty="0">
                <a:solidFill>
                  <a:srgbClr val="1B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genomföra och tolka en Cp/Cpk-studie — och förklara varför processkapabiliteten alltid är sämre än maskinkapabiliteten.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94360" y="5404104"/>
            <a:ext cx="512064" cy="512064"/>
          </a:xfrm>
          <a:prstGeom prst="ellipse">
            <a:avLst/>
          </a:prstGeom>
          <a:solidFill>
            <a:srgbClr val="1F5B7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53858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534924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F5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Förbättringsarbete — </a:t>
            </a:r>
            <a:pPr indent="0" marL="0">
              <a:buNone/>
            </a:pPr>
            <a:r>
              <a:rPr lang="en-US" sz="1550" dirty="0">
                <a:solidFill>
                  <a:srgbClr val="1B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prioritera åtgärder utifrån hur variationskällor adderas kvadratiskt, och verifiera förbättringar med data (PDCA — Planera–Gör–Studera–Lär).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F5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UPPLÄGG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8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Fem moment — som låses upp i tur och ordning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700784" cy="2286000"/>
          </a:xfrm>
          <a:prstGeom prst="roundRect">
            <a:avLst>
              <a:gd name="adj" fmla="val 2688"/>
            </a:avLst>
          </a:prstGeom>
          <a:solidFill>
            <a:srgbClr val="F6F3EC"/>
          </a:solidFill>
          <a:ln w="12700">
            <a:solidFill>
              <a:srgbClr val="CFC9B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2103120"/>
            <a:ext cx="457200" cy="457200"/>
          </a:xfrm>
          <a:prstGeom prst="rect">
            <a:avLst/>
          </a:prstGeom>
          <a:solidFill>
            <a:srgbClr val="1B283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97480"/>
            <a:ext cx="1426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 &amp;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1B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74904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D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20 min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286207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D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441448" y="1920240"/>
            <a:ext cx="1700784" cy="2286000"/>
          </a:xfrm>
          <a:prstGeom prst="roundRect">
            <a:avLst>
              <a:gd name="adj" fmla="val 2688"/>
            </a:avLst>
          </a:prstGeom>
          <a:solidFill>
            <a:srgbClr val="F6F3EC"/>
          </a:solidFill>
          <a:ln w="12700">
            <a:solidFill>
              <a:srgbClr val="CFC9B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06040" y="2103120"/>
            <a:ext cx="457200" cy="457200"/>
          </a:xfrm>
          <a:prstGeom prst="rect">
            <a:avLst/>
          </a:prstGeom>
          <a:solidFill>
            <a:srgbClr val="1B283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60604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578608" y="2697480"/>
            <a:ext cx="1426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Maskin-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1B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kapabilitet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2578608" y="374904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D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30 min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087368" y="286207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D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34256" y="1920240"/>
            <a:ext cx="1700784" cy="2286000"/>
          </a:xfrm>
          <a:prstGeom prst="roundRect">
            <a:avLst>
              <a:gd name="adj" fmla="val 2688"/>
            </a:avLst>
          </a:prstGeom>
          <a:solidFill>
            <a:srgbClr val="F6F3EC"/>
          </a:solidFill>
          <a:ln w="12700">
            <a:solidFill>
              <a:srgbClr val="CFC9B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98848" y="2103120"/>
            <a:ext cx="457200" cy="457200"/>
          </a:xfrm>
          <a:prstGeom prst="rect">
            <a:avLst/>
          </a:prstGeom>
          <a:solidFill>
            <a:srgbClr val="1B283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498848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471416" y="2697480"/>
            <a:ext cx="1426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Styrdiagram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4471416" y="374904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D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40 min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980176" y="286207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D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27064" y="1920240"/>
            <a:ext cx="1700784" cy="2286000"/>
          </a:xfrm>
          <a:prstGeom prst="roundRect">
            <a:avLst>
              <a:gd name="adj" fmla="val 2688"/>
            </a:avLst>
          </a:prstGeom>
          <a:solidFill>
            <a:srgbClr val="F6F3EC"/>
          </a:solidFill>
          <a:ln w="12700">
            <a:solidFill>
              <a:srgbClr val="CFC9B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91656" y="2103120"/>
            <a:ext cx="457200" cy="457200"/>
          </a:xfrm>
          <a:prstGeom prst="rect">
            <a:avLst/>
          </a:prstGeom>
          <a:solidFill>
            <a:srgbClr val="1B283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91656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364224" y="2697480"/>
            <a:ext cx="1426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Process-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1B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kapabilitet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6364224" y="374904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D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30 min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872984" y="286207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D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119872" y="1920240"/>
            <a:ext cx="1700784" cy="2286000"/>
          </a:xfrm>
          <a:prstGeom prst="roundRect">
            <a:avLst>
              <a:gd name="adj" fmla="val 2688"/>
            </a:avLst>
          </a:prstGeom>
          <a:solidFill>
            <a:srgbClr val="F6F3EC"/>
          </a:solidFill>
          <a:ln w="12700">
            <a:solidFill>
              <a:srgbClr val="CFC9B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84464" y="2103120"/>
            <a:ext cx="457200" cy="457200"/>
          </a:xfrm>
          <a:prstGeom prst="rect">
            <a:avLst/>
          </a:prstGeom>
          <a:solidFill>
            <a:srgbClr val="1B283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84464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8257032" y="2697480"/>
            <a:ext cx="1426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Förbättra &amp;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1B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verifiera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8257032" y="374904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D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30 min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9765792" y="286207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D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012680" y="1920240"/>
            <a:ext cx="1700784" cy="2286000"/>
          </a:xfrm>
          <a:prstGeom prst="roundRect">
            <a:avLst>
              <a:gd name="adj" fmla="val 2688"/>
            </a:avLst>
          </a:prstGeom>
          <a:solidFill>
            <a:srgbClr val="1B2831"/>
          </a:solidFill>
          <a:ln w="12700">
            <a:solidFill>
              <a:srgbClr val="1B283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177272" y="2103120"/>
            <a:ext cx="4572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177272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8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10149840" y="2697480"/>
            <a:ext cx="1426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Labrapport</a:t>
            </a:r>
            <a:endParaRPr lang="en-US" sz="1450" dirty="0"/>
          </a:p>
        </p:txBody>
      </p:sp>
      <p:sp>
        <p:nvSpPr>
          <p:cNvPr id="38" name="Text 36"/>
          <p:cNvSpPr txBox="1"/>
          <p:nvPr/>
        </p:nvSpPr>
        <p:spPr>
          <a:xfrm>
            <a:off x="10149840" y="374904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PDF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46634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Varje moment avslutas med självrättande kontrollfrågor och en reflektionsfråga. </a:t>
            </a:r>
            <a:pPr indent="0" marL="0">
              <a:buNone/>
            </a:pPr>
            <a:r>
              <a:rPr lang="en-US" sz="1500" b="1" dirty="0">
                <a:solidFill>
                  <a:srgbClr val="1B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Nästa moment öppnas först när både uppgiften och frågorna är klara.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E3EDF2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22960" y="564184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5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Räkna med 2–3 timmar totalt. </a:t>
            </a:r>
            <a:pPr indent="0" marL="0">
              <a:buNone/>
            </a:pPr>
            <a:r>
              <a:rPr lang="en-US" sz="1450" dirty="0">
                <a:solidFill>
                  <a:srgbClr val="1B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kan stänga sidan och fortsätta senare — allt sparas automatiskt.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F5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VIKTIGT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8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Innan du börjar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512064" cy="512064"/>
          </a:xfrm>
          <a:prstGeom prst="ellipse">
            <a:avLst/>
          </a:prstGeom>
          <a:solidFill>
            <a:srgbClr val="B23A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6276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59105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2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 ditt riktiga namn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956816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För- och efternamn på startskärmen. Namnet skapar dina personliga mätdata och skrivs in i labrapporten — en rapport utan ditt riktiga namn kan inte bedömas.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2761488"/>
            <a:ext cx="512064" cy="512064"/>
          </a:xfrm>
          <a:prstGeom prst="ellipse">
            <a:avLst/>
          </a:prstGeom>
          <a:solidFill>
            <a:srgbClr val="B23A2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743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70662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2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Samma webbläsare, samma enhet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072384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Hela laborationen. Din progression sparas lokalt i webbläsaren — byter du dator eller webbläsare får du börja om. Använd inte privat-/inkognitoläge.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3877056"/>
            <a:ext cx="512064" cy="512064"/>
          </a:xfrm>
          <a:prstGeom prst="ellipse">
            <a:avLst/>
          </a:prstGeom>
          <a:solidFill>
            <a:srgbClr val="1F5B7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3858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82219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Dator eller surfplatta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187952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Rekommenderas. Mobil fungerar, men diagrammen blir små.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4992624"/>
            <a:ext cx="512064" cy="512064"/>
          </a:xfrm>
          <a:prstGeom prst="ellipse">
            <a:avLst/>
          </a:prstGeom>
          <a:solidFill>
            <a:srgbClr val="1F5B7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49743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9377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Jobba i din egen takt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530352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Momenten tar 2–3 timmar totalt. Du kan pausa när som helst och fortsätta senare.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F5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8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Inlämning — så redovisar du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2834640"/>
          </a:xfrm>
          <a:prstGeom prst="roundRect">
            <a:avLst>
              <a:gd name="adj" fmla="val 1935"/>
            </a:avLst>
          </a:prstGeom>
          <a:solidFill>
            <a:srgbClr val="F6F3EC"/>
          </a:solidFill>
          <a:ln w="12700">
            <a:solidFill>
              <a:srgbClr val="CFC9B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1F5B7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93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Genomför alla moment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8328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Klicka dig igenom moment 0–4 tills rapportvyn visar stämpeln ”Laboration genomförd”.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25112" y="1737360"/>
            <a:ext cx="3520440" cy="2834640"/>
          </a:xfrm>
          <a:prstGeom prst="roundRect">
            <a:avLst>
              <a:gd name="adj" fmla="val 1935"/>
            </a:avLst>
          </a:prstGeom>
          <a:solidFill>
            <a:srgbClr val="F6F3EC"/>
          </a:solidFill>
          <a:ln w="12700">
            <a:solidFill>
              <a:srgbClr val="CFC9B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9432" y="2011680"/>
            <a:ext cx="548640" cy="548640"/>
          </a:xfrm>
          <a:prstGeom prst="ellipse">
            <a:avLst/>
          </a:prstGeom>
          <a:solidFill>
            <a:srgbClr val="1F5B7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9432" y="1993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27889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Spara som PDF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338328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Knappen ”Skriv ut / spara som PDF” i rapportvyn. Gör detta helst från en dator.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01584" y="1737360"/>
            <a:ext cx="3520440" cy="2834640"/>
          </a:xfrm>
          <a:prstGeom prst="roundRect">
            <a:avLst>
              <a:gd name="adj" fmla="val 1935"/>
            </a:avLst>
          </a:prstGeom>
          <a:solidFill>
            <a:srgbClr val="1B2831"/>
          </a:solidFill>
          <a:ln w="12700">
            <a:solidFill>
              <a:srgbClr val="1B283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75904" y="20116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75904" y="1993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75904" y="27889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Ladda upp på Canvas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75904" y="338328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9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Lämna in PDF-filen som en vanlig inlämningsuppgift på kursens Canvas-sida.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983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66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Observera: </a:t>
            </a:r>
            <a:pPr indent="0" marL="0">
              <a:buNone/>
            </a:pPr>
            <a:r>
              <a:rPr lang="en-US" sz="1500" dirty="0">
                <a:solidFill>
                  <a:srgbClr val="1B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ingenting lämnas in i själva laborationen — inlämningen sker på Canvas.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8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2988" y="2811746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3" name="Shape 1"/>
          <p:cNvSpPr/>
          <p:nvPr/>
        </p:nvSpPr>
        <p:spPr>
          <a:xfrm>
            <a:off x="3418713" y="2811715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4" name="Shape 2"/>
          <p:cNvSpPr/>
          <p:nvPr/>
        </p:nvSpPr>
        <p:spPr>
          <a:xfrm>
            <a:off x="3504438" y="2811659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5" name="Shape 3"/>
          <p:cNvSpPr/>
          <p:nvPr/>
        </p:nvSpPr>
        <p:spPr>
          <a:xfrm>
            <a:off x="3590163" y="2811557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6" name="Shape 4"/>
          <p:cNvSpPr/>
          <p:nvPr/>
        </p:nvSpPr>
        <p:spPr>
          <a:xfrm>
            <a:off x="3675888" y="2811378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7" name="Shape 5"/>
          <p:cNvSpPr/>
          <p:nvPr/>
        </p:nvSpPr>
        <p:spPr>
          <a:xfrm>
            <a:off x="3761613" y="2811070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8" name="Shape 6"/>
          <p:cNvSpPr/>
          <p:nvPr/>
        </p:nvSpPr>
        <p:spPr>
          <a:xfrm>
            <a:off x="3847338" y="2810552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9" name="Shape 7"/>
          <p:cNvSpPr/>
          <p:nvPr/>
        </p:nvSpPr>
        <p:spPr>
          <a:xfrm>
            <a:off x="3933063" y="2809700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10" name="Shape 8"/>
          <p:cNvSpPr/>
          <p:nvPr/>
        </p:nvSpPr>
        <p:spPr>
          <a:xfrm>
            <a:off x="4018788" y="2808329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11" name="Shape 9"/>
          <p:cNvSpPr/>
          <p:nvPr/>
        </p:nvSpPr>
        <p:spPr>
          <a:xfrm>
            <a:off x="4104513" y="2806172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12" name="Shape 10"/>
          <p:cNvSpPr/>
          <p:nvPr/>
        </p:nvSpPr>
        <p:spPr>
          <a:xfrm>
            <a:off x="4190238" y="2802853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13" name="Shape 11"/>
          <p:cNvSpPr/>
          <p:nvPr/>
        </p:nvSpPr>
        <p:spPr>
          <a:xfrm>
            <a:off x="4275963" y="2797859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14" name="Shape 12"/>
          <p:cNvSpPr/>
          <p:nvPr/>
        </p:nvSpPr>
        <p:spPr>
          <a:xfrm>
            <a:off x="4361688" y="2790516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15" name="Shape 13"/>
          <p:cNvSpPr/>
          <p:nvPr/>
        </p:nvSpPr>
        <p:spPr>
          <a:xfrm>
            <a:off x="4447413" y="2779964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16" name="Shape 14"/>
          <p:cNvSpPr/>
          <p:nvPr/>
        </p:nvSpPr>
        <p:spPr>
          <a:xfrm>
            <a:off x="4533138" y="2765150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17" name="Shape 15"/>
          <p:cNvSpPr/>
          <p:nvPr/>
        </p:nvSpPr>
        <p:spPr>
          <a:xfrm>
            <a:off x="4618863" y="2744835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18" name="Shape 16"/>
          <p:cNvSpPr/>
          <p:nvPr/>
        </p:nvSpPr>
        <p:spPr>
          <a:xfrm>
            <a:off x="4704588" y="2717635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19" name="Shape 17"/>
          <p:cNvSpPr/>
          <p:nvPr/>
        </p:nvSpPr>
        <p:spPr>
          <a:xfrm>
            <a:off x="4790313" y="2682093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20" name="Shape 18"/>
          <p:cNvSpPr/>
          <p:nvPr/>
        </p:nvSpPr>
        <p:spPr>
          <a:xfrm>
            <a:off x="4876038" y="2636786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21" name="Shape 19"/>
          <p:cNvSpPr/>
          <p:nvPr/>
        </p:nvSpPr>
        <p:spPr>
          <a:xfrm>
            <a:off x="4961763" y="2580479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22" name="Shape 20"/>
          <p:cNvSpPr/>
          <p:nvPr/>
        </p:nvSpPr>
        <p:spPr>
          <a:xfrm>
            <a:off x="5047488" y="2512309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23" name="Shape 21"/>
          <p:cNvSpPr/>
          <p:nvPr/>
        </p:nvSpPr>
        <p:spPr>
          <a:xfrm>
            <a:off x="5133213" y="2431976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24" name="Shape 22"/>
          <p:cNvSpPr/>
          <p:nvPr/>
        </p:nvSpPr>
        <p:spPr>
          <a:xfrm>
            <a:off x="5218938" y="2339945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25" name="Shape 23"/>
          <p:cNvSpPr/>
          <p:nvPr/>
        </p:nvSpPr>
        <p:spPr>
          <a:xfrm>
            <a:off x="5304663" y="2237603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26" name="Shape 24"/>
          <p:cNvSpPr/>
          <p:nvPr/>
        </p:nvSpPr>
        <p:spPr>
          <a:xfrm>
            <a:off x="5390388" y="2127353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27" name="Shape 25"/>
          <p:cNvSpPr/>
          <p:nvPr/>
        </p:nvSpPr>
        <p:spPr>
          <a:xfrm>
            <a:off x="5476113" y="2012619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28" name="Shape 26"/>
          <p:cNvSpPr/>
          <p:nvPr/>
        </p:nvSpPr>
        <p:spPr>
          <a:xfrm>
            <a:off x="5561838" y="1897736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29" name="Shape 27"/>
          <p:cNvSpPr/>
          <p:nvPr/>
        </p:nvSpPr>
        <p:spPr>
          <a:xfrm>
            <a:off x="5647563" y="1787719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30" name="Shape 28"/>
          <p:cNvSpPr/>
          <p:nvPr/>
        </p:nvSpPr>
        <p:spPr>
          <a:xfrm>
            <a:off x="5733288" y="1687926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31" name="Shape 29"/>
          <p:cNvSpPr/>
          <p:nvPr/>
        </p:nvSpPr>
        <p:spPr>
          <a:xfrm>
            <a:off x="5819013" y="1603633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32" name="Shape 30"/>
          <p:cNvSpPr/>
          <p:nvPr/>
        </p:nvSpPr>
        <p:spPr>
          <a:xfrm>
            <a:off x="5904738" y="1539579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33" name="Shape 31"/>
          <p:cNvSpPr/>
          <p:nvPr/>
        </p:nvSpPr>
        <p:spPr>
          <a:xfrm>
            <a:off x="5990463" y="1499529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34" name="Shape 32"/>
          <p:cNvSpPr/>
          <p:nvPr/>
        </p:nvSpPr>
        <p:spPr>
          <a:xfrm>
            <a:off x="6076188" y="1485900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35" name="Shape 33"/>
          <p:cNvSpPr/>
          <p:nvPr/>
        </p:nvSpPr>
        <p:spPr>
          <a:xfrm>
            <a:off x="6161913" y="1499529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36" name="Shape 34"/>
          <p:cNvSpPr/>
          <p:nvPr/>
        </p:nvSpPr>
        <p:spPr>
          <a:xfrm>
            <a:off x="6247638" y="1539579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37" name="Shape 35"/>
          <p:cNvSpPr/>
          <p:nvPr/>
        </p:nvSpPr>
        <p:spPr>
          <a:xfrm>
            <a:off x="6333363" y="1603633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38" name="Shape 36"/>
          <p:cNvSpPr/>
          <p:nvPr/>
        </p:nvSpPr>
        <p:spPr>
          <a:xfrm>
            <a:off x="6419088" y="1687926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39" name="Shape 37"/>
          <p:cNvSpPr/>
          <p:nvPr/>
        </p:nvSpPr>
        <p:spPr>
          <a:xfrm>
            <a:off x="6504813" y="1787719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40" name="Shape 38"/>
          <p:cNvSpPr/>
          <p:nvPr/>
        </p:nvSpPr>
        <p:spPr>
          <a:xfrm>
            <a:off x="6590538" y="1897736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41" name="Shape 39"/>
          <p:cNvSpPr/>
          <p:nvPr/>
        </p:nvSpPr>
        <p:spPr>
          <a:xfrm>
            <a:off x="6676263" y="2012619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42" name="Shape 40"/>
          <p:cNvSpPr/>
          <p:nvPr/>
        </p:nvSpPr>
        <p:spPr>
          <a:xfrm>
            <a:off x="6761988" y="2127353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43" name="Shape 41"/>
          <p:cNvSpPr/>
          <p:nvPr/>
        </p:nvSpPr>
        <p:spPr>
          <a:xfrm>
            <a:off x="6847713" y="2237603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44" name="Shape 42"/>
          <p:cNvSpPr/>
          <p:nvPr/>
        </p:nvSpPr>
        <p:spPr>
          <a:xfrm>
            <a:off x="6933438" y="2339945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45" name="Shape 43"/>
          <p:cNvSpPr/>
          <p:nvPr/>
        </p:nvSpPr>
        <p:spPr>
          <a:xfrm>
            <a:off x="7019163" y="2431976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46" name="Shape 44"/>
          <p:cNvSpPr/>
          <p:nvPr/>
        </p:nvSpPr>
        <p:spPr>
          <a:xfrm>
            <a:off x="7104888" y="2512309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47" name="Shape 45"/>
          <p:cNvSpPr/>
          <p:nvPr/>
        </p:nvSpPr>
        <p:spPr>
          <a:xfrm>
            <a:off x="7190613" y="2580479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48" name="Shape 46"/>
          <p:cNvSpPr/>
          <p:nvPr/>
        </p:nvSpPr>
        <p:spPr>
          <a:xfrm>
            <a:off x="7276338" y="2636786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49" name="Shape 47"/>
          <p:cNvSpPr/>
          <p:nvPr/>
        </p:nvSpPr>
        <p:spPr>
          <a:xfrm>
            <a:off x="7362063" y="2682093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50" name="Shape 48"/>
          <p:cNvSpPr/>
          <p:nvPr/>
        </p:nvSpPr>
        <p:spPr>
          <a:xfrm>
            <a:off x="7447788" y="2717635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51" name="Shape 49"/>
          <p:cNvSpPr/>
          <p:nvPr/>
        </p:nvSpPr>
        <p:spPr>
          <a:xfrm>
            <a:off x="7533513" y="2744835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52" name="Shape 50"/>
          <p:cNvSpPr/>
          <p:nvPr/>
        </p:nvSpPr>
        <p:spPr>
          <a:xfrm>
            <a:off x="7619238" y="2765150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53" name="Shape 51"/>
          <p:cNvSpPr/>
          <p:nvPr/>
        </p:nvSpPr>
        <p:spPr>
          <a:xfrm>
            <a:off x="7704963" y="2779964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54" name="Shape 52"/>
          <p:cNvSpPr/>
          <p:nvPr/>
        </p:nvSpPr>
        <p:spPr>
          <a:xfrm>
            <a:off x="7790688" y="2790516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55" name="Shape 53"/>
          <p:cNvSpPr/>
          <p:nvPr/>
        </p:nvSpPr>
        <p:spPr>
          <a:xfrm>
            <a:off x="7876413" y="2797859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56" name="Shape 54"/>
          <p:cNvSpPr/>
          <p:nvPr/>
        </p:nvSpPr>
        <p:spPr>
          <a:xfrm>
            <a:off x="7962138" y="2802853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57" name="Shape 55"/>
          <p:cNvSpPr/>
          <p:nvPr/>
        </p:nvSpPr>
        <p:spPr>
          <a:xfrm>
            <a:off x="8047863" y="2806172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58" name="Shape 56"/>
          <p:cNvSpPr/>
          <p:nvPr/>
        </p:nvSpPr>
        <p:spPr>
          <a:xfrm>
            <a:off x="8133588" y="2808329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59" name="Shape 57"/>
          <p:cNvSpPr/>
          <p:nvPr/>
        </p:nvSpPr>
        <p:spPr>
          <a:xfrm>
            <a:off x="8219313" y="2809700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60" name="Shape 58"/>
          <p:cNvSpPr/>
          <p:nvPr/>
        </p:nvSpPr>
        <p:spPr>
          <a:xfrm>
            <a:off x="8305038" y="2810552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61" name="Shape 59"/>
          <p:cNvSpPr/>
          <p:nvPr/>
        </p:nvSpPr>
        <p:spPr>
          <a:xfrm>
            <a:off x="8390763" y="2811070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62" name="Shape 60"/>
          <p:cNvSpPr/>
          <p:nvPr/>
        </p:nvSpPr>
        <p:spPr>
          <a:xfrm>
            <a:off x="8476488" y="2811378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63" name="Shape 61"/>
          <p:cNvSpPr/>
          <p:nvPr/>
        </p:nvSpPr>
        <p:spPr>
          <a:xfrm>
            <a:off x="8562213" y="2811557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64" name="Shape 62"/>
          <p:cNvSpPr/>
          <p:nvPr/>
        </p:nvSpPr>
        <p:spPr>
          <a:xfrm>
            <a:off x="8647938" y="2811659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65" name="Shape 63"/>
          <p:cNvSpPr/>
          <p:nvPr/>
        </p:nvSpPr>
        <p:spPr>
          <a:xfrm>
            <a:off x="8733663" y="2811715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66" name="Shape 64"/>
          <p:cNvSpPr/>
          <p:nvPr/>
        </p:nvSpPr>
        <p:spPr>
          <a:xfrm>
            <a:off x="8819388" y="2811746"/>
            <a:ext cx="45720" cy="45720"/>
          </a:xfrm>
          <a:prstGeom prst="ellipse">
            <a:avLst/>
          </a:prstGeom>
          <a:solidFill>
            <a:srgbClr val="3E9C9C"/>
          </a:solidFill>
          <a:ln/>
        </p:spPr>
      </p:sp>
      <p:sp>
        <p:nvSpPr>
          <p:cNvPr id="67" name="Shape 65"/>
          <p:cNvSpPr/>
          <p:nvPr/>
        </p:nvSpPr>
        <p:spPr>
          <a:xfrm>
            <a:off x="4011831" y="1280160"/>
            <a:ext cx="0" cy="1645920"/>
          </a:xfrm>
          <a:prstGeom prst="line">
            <a:avLst/>
          </a:prstGeom>
          <a:noFill/>
          <a:ln w="19050">
            <a:solidFill>
              <a:srgbClr val="D96B5B"/>
            </a:solidFill>
            <a:prstDash val="dash"/>
          </a:ln>
        </p:spPr>
      </p:sp>
      <p:sp>
        <p:nvSpPr>
          <p:cNvPr id="68" name="Shape 66"/>
          <p:cNvSpPr/>
          <p:nvPr/>
        </p:nvSpPr>
        <p:spPr>
          <a:xfrm>
            <a:off x="8186265" y="1280160"/>
            <a:ext cx="0" cy="1645920"/>
          </a:xfrm>
          <a:prstGeom prst="line">
            <a:avLst/>
          </a:prstGeom>
          <a:noFill/>
          <a:ln w="19050">
            <a:solidFill>
              <a:srgbClr val="D96B5B"/>
            </a:solidFill>
            <a:prstDash val="dash"/>
          </a:ln>
        </p:spPr>
      </p:sp>
      <p:sp>
        <p:nvSpPr>
          <p:cNvPr id="69" name="Text 67"/>
          <p:cNvSpPr txBox="1"/>
          <p:nvPr/>
        </p:nvSpPr>
        <p:spPr>
          <a:xfrm>
            <a:off x="3554631" y="9784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6B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UTG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7729065" y="9784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6B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ÖTG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3081528" y="2834640"/>
            <a:ext cx="6035040" cy="0"/>
          </a:xfrm>
          <a:prstGeom prst="line">
            <a:avLst/>
          </a:prstGeom>
          <a:noFill/>
          <a:ln w="12700">
            <a:solidFill>
              <a:srgbClr val="7D8A93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548640" y="33832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Stämpla in →</a:t>
            </a:r>
            <a:endParaRPr lang="en-US" sz="4000" dirty="0"/>
          </a:p>
        </p:txBody>
      </p:sp>
      <p:sp>
        <p:nvSpPr>
          <p:cNvPr id="73" name="Text 71"/>
          <p:cNvSpPr txBox="1"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E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spc-lab.vercel.app</a:t>
            </a:r>
            <a:endParaRPr lang="en-US" sz="3600" dirty="0"/>
          </a:p>
        </p:txBody>
      </p:sp>
      <p:sp>
        <p:nvSpPr>
          <p:cNvPr id="74" name="Text 72"/>
          <p:cNvSpPr txBox="1"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9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Lycka till — och kom ihåg: variation är kvalitetens fiende nummer ett.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2026-10-01T19:33:25Z</dcterms:created>
  <dcterms:modified xsi:type="dcterms:W3CDTF">2026-10-01T19:33:25Z</dcterms:modified>
</cp:coreProperties>
</file>